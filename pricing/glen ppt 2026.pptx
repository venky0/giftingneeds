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3EFFB-327F-49AE-AFE8-E0D54F99D411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75B69-5DFB-4A5C-86B6-6976ACE7A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07303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3EFFB-327F-49AE-AFE8-E0D54F99D411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75B69-5DFB-4A5C-86B6-6976ACE7A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5238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3EFFB-327F-49AE-AFE8-E0D54F99D411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75B69-5DFB-4A5C-86B6-6976ACE7A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9387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3EFFB-327F-49AE-AFE8-E0D54F99D411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75B69-5DFB-4A5C-86B6-6976ACE7A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2775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3EFFB-327F-49AE-AFE8-E0D54F99D411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75B69-5DFB-4A5C-86B6-6976ACE7A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0652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3EFFB-327F-49AE-AFE8-E0D54F99D411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75B69-5DFB-4A5C-86B6-6976ACE7A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8934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3EFFB-327F-49AE-AFE8-E0D54F99D411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75B69-5DFB-4A5C-86B6-6976ACE7A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27782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3EFFB-327F-49AE-AFE8-E0D54F99D411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75B69-5DFB-4A5C-86B6-6976ACE7A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8431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3EFFB-327F-49AE-AFE8-E0D54F99D411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75B69-5DFB-4A5C-86B6-6976ACE7A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9649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3EFFB-327F-49AE-AFE8-E0D54F99D411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75B69-5DFB-4A5C-86B6-6976ACE7A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6443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3EFFB-327F-49AE-AFE8-E0D54F99D411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75B69-5DFB-4A5C-86B6-6976ACE7A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581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A3EFFB-327F-49AE-AFE8-E0D54F99D411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675B69-5DFB-4A5C-86B6-6976ACE7A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9606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7521" y="2413262"/>
            <a:ext cx="10661715" cy="634788"/>
          </a:xfrm>
          <a:solidFill>
            <a:srgbClr val="00CCFF"/>
          </a:solidFill>
          <a:ln>
            <a:solidFill>
              <a:srgbClr val="00CCFF"/>
            </a:solidFill>
          </a:ln>
        </p:spPr>
        <p:txBody>
          <a:bodyPr>
            <a:normAutofit fontScale="90000"/>
          </a:bodyPr>
          <a:lstStyle/>
          <a:p>
            <a:r>
              <a:rPr lang="en-US" sz="4000" smtClean="0"/>
              <a:t>DIWALI 2025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30906362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9410121"/>
              </p:ext>
            </p:extLst>
          </p:nvPr>
        </p:nvGraphicFramePr>
        <p:xfrm>
          <a:off x="1" y="1"/>
          <a:ext cx="12191998" cy="7913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2660">
                  <a:extLst>
                    <a:ext uri="{9D8B030D-6E8A-4147-A177-3AD203B41FA5}">
                      <a16:colId xmlns:a16="http://schemas.microsoft.com/office/drawing/2014/main" val="1293713201"/>
                    </a:ext>
                  </a:extLst>
                </a:gridCol>
                <a:gridCol w="2430769">
                  <a:extLst>
                    <a:ext uri="{9D8B030D-6E8A-4147-A177-3AD203B41FA5}">
                      <a16:colId xmlns:a16="http://schemas.microsoft.com/office/drawing/2014/main" val="2862066949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39020313"/>
                    </a:ext>
                  </a:extLst>
                </a:gridCol>
                <a:gridCol w="2543039">
                  <a:extLst>
                    <a:ext uri="{9D8B030D-6E8A-4147-A177-3AD203B41FA5}">
                      <a16:colId xmlns:a16="http://schemas.microsoft.com/office/drawing/2014/main" val="469822951"/>
                    </a:ext>
                  </a:extLst>
                </a:gridCol>
                <a:gridCol w="2136244">
                  <a:extLst>
                    <a:ext uri="{9D8B030D-6E8A-4147-A177-3AD203B41FA5}">
                      <a16:colId xmlns:a16="http://schemas.microsoft.com/office/drawing/2014/main" val="1115857612"/>
                    </a:ext>
                  </a:extLst>
                </a:gridCol>
                <a:gridCol w="1046374">
                  <a:extLst>
                    <a:ext uri="{9D8B030D-6E8A-4147-A177-3AD203B41FA5}">
                      <a16:colId xmlns:a16="http://schemas.microsoft.com/office/drawing/2014/main" val="3946753224"/>
                    </a:ext>
                  </a:extLst>
                </a:gridCol>
                <a:gridCol w="1241198">
                  <a:extLst>
                    <a:ext uri="{9D8B030D-6E8A-4147-A177-3AD203B41FA5}">
                      <a16:colId xmlns:a16="http://schemas.microsoft.com/office/drawing/2014/main" val="2634543621"/>
                    </a:ext>
                  </a:extLst>
                </a:gridCol>
              </a:tblGrid>
              <a:tr h="1155031">
                <a:tc>
                  <a:txBody>
                    <a:bodyPr/>
                    <a:lstStyle/>
                    <a:p>
                      <a:r>
                        <a:rPr lang="en-US" dirty="0" smtClean="0"/>
                        <a:t>S.NO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PRODUCT</a:t>
                      </a:r>
                      <a:r>
                        <a:rPr lang="en-US" baseline="0" dirty="0" smtClean="0"/>
                        <a:t> DETAIL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PRODUCT</a:t>
                      </a:r>
                      <a:r>
                        <a:rPr lang="en-US" baseline="0" dirty="0" smtClean="0"/>
                        <a:t> CODE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IMAGE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SPECIFICATION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MRP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OFFER PRICE Basic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7523008"/>
                  </a:ext>
                </a:extLst>
              </a:tr>
              <a:tr h="3497179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Electric Kettle 1.8 </a:t>
                      </a:r>
                      <a:r>
                        <a:rPr lang="en-US" sz="1800" b="1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Litre</a:t>
                      </a:r>
                      <a:r>
                        <a:rPr lang="en-US" sz="1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Stainless Steel with 360° Rotational Base, 1350 W</a:t>
                      </a:r>
                    </a:p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Silver (9002)</a:t>
                      </a:r>
                      <a:endParaRPr lang="en-IN" sz="1800" b="1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 compact kettle that is designed to fit into most spaces</a:t>
                      </a:r>
                    </a:p>
                    <a:p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Concealed heating element for your safety</a:t>
                      </a:r>
                    </a:p>
                    <a:p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Boil up to 1.8ltr of water in one go</a:t>
                      </a:r>
                    </a:p>
                    <a:p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Easy to clean with a stable base to prevent spills</a:t>
                      </a:r>
                    </a:p>
                    <a:p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A 360° rotational base for convenience</a:t>
                      </a:r>
                    </a:p>
                    <a:p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- 1 year warranty</a:t>
                      </a:r>
                      <a:endParaRPr lang="en-US" sz="16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1395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480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2340262"/>
                  </a:ext>
                </a:extLst>
              </a:tr>
              <a:tr h="3051097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Egg Boiler Boils 7 Eggs, 1 Poaching Cup, Auto shut Off, 350W</a:t>
                      </a:r>
                    </a:p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3030EB7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800" b="1" i="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 smtClean="0">
                          <a:solidFill>
                            <a:srgbClr val="000000"/>
                          </a:solidFill>
                          <a:effectLst/>
                          <a:latin typeface="Nunito Sans"/>
                        </a:rPr>
                        <a:t>Allows convenient boiling of 7 eggs at a time</a:t>
                      </a:r>
                    </a:p>
                    <a:p>
                      <a:pPr algn="l"/>
                      <a:r>
                        <a:rPr lang="en-US" sz="1600" b="0" i="0" dirty="0" smtClean="0">
                          <a:solidFill>
                            <a:srgbClr val="000000"/>
                          </a:solidFill>
                          <a:effectLst/>
                          <a:latin typeface="Nunito Sans"/>
                        </a:rPr>
                        <a:t>- Comes with a Poaching egg cup</a:t>
                      </a:r>
                    </a:p>
                    <a:p>
                      <a:pPr algn="l"/>
                      <a:r>
                        <a:rPr lang="en-US" sz="1600" b="0" i="0" dirty="0" smtClean="0">
                          <a:solidFill>
                            <a:srgbClr val="000000"/>
                          </a:solidFill>
                          <a:effectLst/>
                          <a:latin typeface="Nunito Sans"/>
                        </a:rPr>
                        <a:t>- Equipped with automatic off feature that cuts off the supply after the water is finished</a:t>
                      </a:r>
                    </a:p>
                    <a:p>
                      <a:pPr algn="l"/>
                      <a:r>
                        <a:rPr lang="en-US" sz="1600" b="0" i="0" dirty="0" smtClean="0">
                          <a:solidFill>
                            <a:srgbClr val="000000"/>
                          </a:solidFill>
                          <a:effectLst/>
                          <a:latin typeface="Nunito Sans"/>
                        </a:rPr>
                        <a:t>- 350W Power</a:t>
                      </a:r>
                    </a:p>
                    <a:p>
                      <a:pPr algn="l"/>
                      <a:r>
                        <a:rPr lang="en-US" sz="1600" b="0" i="0" dirty="0" smtClean="0">
                          <a:solidFill>
                            <a:srgbClr val="000000"/>
                          </a:solidFill>
                          <a:effectLst/>
                          <a:latin typeface="Nunito Sans"/>
                        </a:rPr>
                        <a:t>- 1 Years Warranty</a:t>
                      </a:r>
                    </a:p>
                    <a:p>
                      <a:pPr marL="0" algn="l" defTabSz="914400" rtl="0" eaLnBrk="1" latinLnBrk="0" hangingPunct="1"/>
                      <a:endParaRPr lang="en-IN" sz="16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1295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590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4604719"/>
                  </a:ext>
                </a:extLst>
              </a:tr>
            </a:tbl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006" y="1253765"/>
            <a:ext cx="2174646" cy="217464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9079" y="5230108"/>
            <a:ext cx="17145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908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8816462"/>
              </p:ext>
            </p:extLst>
          </p:nvPr>
        </p:nvGraphicFramePr>
        <p:xfrm>
          <a:off x="1" y="1"/>
          <a:ext cx="12191998" cy="88338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2660">
                  <a:extLst>
                    <a:ext uri="{9D8B030D-6E8A-4147-A177-3AD203B41FA5}">
                      <a16:colId xmlns:a16="http://schemas.microsoft.com/office/drawing/2014/main" val="1293713201"/>
                    </a:ext>
                  </a:extLst>
                </a:gridCol>
                <a:gridCol w="2430769">
                  <a:extLst>
                    <a:ext uri="{9D8B030D-6E8A-4147-A177-3AD203B41FA5}">
                      <a16:colId xmlns:a16="http://schemas.microsoft.com/office/drawing/2014/main" val="2862066949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39020313"/>
                    </a:ext>
                  </a:extLst>
                </a:gridCol>
                <a:gridCol w="2543039">
                  <a:extLst>
                    <a:ext uri="{9D8B030D-6E8A-4147-A177-3AD203B41FA5}">
                      <a16:colId xmlns:a16="http://schemas.microsoft.com/office/drawing/2014/main" val="469822951"/>
                    </a:ext>
                  </a:extLst>
                </a:gridCol>
                <a:gridCol w="2136244">
                  <a:extLst>
                    <a:ext uri="{9D8B030D-6E8A-4147-A177-3AD203B41FA5}">
                      <a16:colId xmlns:a16="http://schemas.microsoft.com/office/drawing/2014/main" val="1115857612"/>
                    </a:ext>
                  </a:extLst>
                </a:gridCol>
                <a:gridCol w="1046374">
                  <a:extLst>
                    <a:ext uri="{9D8B030D-6E8A-4147-A177-3AD203B41FA5}">
                      <a16:colId xmlns:a16="http://schemas.microsoft.com/office/drawing/2014/main" val="3946753224"/>
                    </a:ext>
                  </a:extLst>
                </a:gridCol>
                <a:gridCol w="1241198">
                  <a:extLst>
                    <a:ext uri="{9D8B030D-6E8A-4147-A177-3AD203B41FA5}">
                      <a16:colId xmlns:a16="http://schemas.microsoft.com/office/drawing/2014/main" val="2634543621"/>
                    </a:ext>
                  </a:extLst>
                </a:gridCol>
              </a:tblGrid>
              <a:tr h="1155031">
                <a:tc>
                  <a:txBody>
                    <a:bodyPr/>
                    <a:lstStyle/>
                    <a:p>
                      <a:r>
                        <a:rPr lang="en-US" dirty="0" smtClean="0"/>
                        <a:t>S.NO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PRODUCT</a:t>
                      </a:r>
                      <a:r>
                        <a:rPr lang="en-US" baseline="0" dirty="0" smtClean="0"/>
                        <a:t> DETAIL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PRODUCT</a:t>
                      </a:r>
                      <a:r>
                        <a:rPr lang="en-US" baseline="0" dirty="0" smtClean="0"/>
                        <a:t> CODE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IMAGE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SPECIFICATION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MRP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OFFER PRICE Basic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7523008"/>
                  </a:ext>
                </a:extLst>
              </a:tr>
              <a:tr h="3746906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Electric Warmer Plate with Auto Shut Off 300W</a:t>
                      </a:r>
                    </a:p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 3001</a:t>
                      </a:r>
                    </a:p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Warmer plate keeps food warm and ready to serve</a:t>
                      </a:r>
                    </a:p>
                    <a:p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Use only heat resistant cookware</a:t>
                      </a:r>
                    </a:p>
                    <a:p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Even heat distribution</a:t>
                      </a:r>
                    </a:p>
                    <a:p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Easy to clean glass top</a:t>
                      </a:r>
                    </a:p>
                    <a:p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Ultra thin &amp; sleek space saving design</a:t>
                      </a:r>
                    </a:p>
                    <a:p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Perfect for any table top/counter</a:t>
                      </a:r>
                    </a:p>
                    <a:p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Energy efficient: low power consumption</a:t>
                      </a:r>
                    </a:p>
                    <a:p>
                      <a:endParaRPr lang="en-US" sz="16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2995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1270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2340262"/>
                  </a:ext>
                </a:extLst>
              </a:tr>
              <a:tr h="3051097"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Electric Coffee Mug Warmer Plate with Auto Shut Off and Heating Function 16 Watt</a:t>
                      </a:r>
                    </a:p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 3000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800" b="1" i="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i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All-day warming</a:t>
                      </a:r>
                      <a:r>
                        <a:rPr lang="en-US" sz="1200" b="0" i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keeps tea or coffee warm or lukewarm through the entire day</a:t>
                      </a:r>
                      <a:r>
                        <a:rPr lang="en-US" sz="1200" dirty="0" smtClean="0"/>
                        <a:t/>
                      </a:r>
                      <a:br>
                        <a:rPr lang="en-US" sz="1200" dirty="0" smtClean="0"/>
                      </a:br>
                      <a:r>
                        <a:rPr lang="en-US" sz="1200" b="0" i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 </a:t>
                      </a:r>
                      <a:r>
                        <a:rPr lang="en-US" sz="1200" b="1" i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50-55°C warm water level</a:t>
                      </a:r>
                      <a:r>
                        <a:rPr lang="en-US" sz="1200" b="0" i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in 60 minutes, depending on input water temperature</a:t>
                      </a:r>
                      <a:r>
                        <a:rPr lang="en-US" sz="1200" dirty="0" smtClean="0"/>
                        <a:t/>
                      </a:r>
                      <a:br>
                        <a:rPr lang="en-US" sz="1200" dirty="0" smtClean="0"/>
                      </a:br>
                      <a:r>
                        <a:rPr lang="en-US" sz="1200" b="0" i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 </a:t>
                      </a:r>
                      <a:r>
                        <a:rPr lang="en-US" sz="1200" b="1" i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Gravity-operated auto shut off</a:t>
                      </a:r>
                      <a:r>
                        <a:rPr lang="en-US" sz="1200" b="0" i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switches on when a filled cup is placed, and off when removed</a:t>
                      </a:r>
                      <a:r>
                        <a:rPr lang="en-US" sz="1200" dirty="0" smtClean="0"/>
                        <a:t/>
                      </a:r>
                      <a:br>
                        <a:rPr lang="en-US" sz="1200" dirty="0" smtClean="0"/>
                      </a:br>
                      <a:r>
                        <a:rPr lang="en-US" sz="1200" b="0" i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 </a:t>
                      </a:r>
                      <a:r>
                        <a:rPr lang="en-US" sz="1200" b="1" i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16W power consumption</a:t>
                      </a:r>
                      <a:r>
                        <a:rPr lang="en-US" sz="1200" b="0" i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for energy-efficient all-day warming</a:t>
                      </a:r>
                      <a:r>
                        <a:rPr lang="en-US" sz="1200" dirty="0" smtClean="0"/>
                        <a:t/>
                      </a:r>
                      <a:br>
                        <a:rPr lang="en-US" sz="1200" dirty="0" smtClean="0"/>
                      </a:br>
                      <a:r>
                        <a:rPr lang="en-US" sz="1200" b="0" i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 </a:t>
                      </a:r>
                      <a:r>
                        <a:rPr lang="en-US" sz="1200" b="1" i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400ml mug included</a:t>
                      </a:r>
                      <a:r>
                        <a:rPr lang="en-US" sz="1200" b="0" i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specially designed with a stirrer and a matching ceramic lid</a:t>
                      </a:r>
                      <a:r>
                        <a:rPr lang="en-US" sz="1200" dirty="0" smtClean="0"/>
                        <a:t/>
                      </a:r>
                      <a:br>
                        <a:rPr lang="en-US" sz="1200" dirty="0" smtClean="0"/>
                      </a:br>
                      <a:r>
                        <a:rPr lang="en-US" sz="1200" b="0" i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 </a:t>
                      </a:r>
                      <a:r>
                        <a:rPr lang="en-US" sz="1200" b="1" i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Tubular heating element</a:t>
                      </a:r>
                      <a:r>
                        <a:rPr lang="en-US" sz="1200" b="0" i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for better, more even heating</a:t>
                      </a:r>
                      <a:r>
                        <a:rPr lang="en-US" sz="1200" dirty="0" smtClean="0"/>
                        <a:t/>
                      </a:r>
                      <a:br>
                        <a:rPr lang="en-US" sz="1200" dirty="0" smtClean="0"/>
                      </a:br>
                      <a:r>
                        <a:rPr lang="en-US" sz="1200" b="0" i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 </a:t>
                      </a:r>
                      <a:r>
                        <a:rPr lang="en-US" sz="1200" b="1" i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Flat pan compatible</a:t>
                      </a:r>
                      <a:r>
                        <a:rPr lang="en-US" sz="1200" b="0" i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for warming soups and tiffin on the plate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1595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703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4604719"/>
                  </a:ext>
                </a:extLst>
              </a:tr>
            </a:tbl>
          </a:graphicData>
        </a:graphic>
      </p:graphicFrame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0465" y="1410706"/>
            <a:ext cx="2231207" cy="223120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1298" y="5143500"/>
            <a:ext cx="17145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1708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8753008"/>
              </p:ext>
            </p:extLst>
          </p:nvPr>
        </p:nvGraphicFramePr>
        <p:xfrm>
          <a:off x="1" y="1"/>
          <a:ext cx="12191998" cy="86835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2660">
                  <a:extLst>
                    <a:ext uri="{9D8B030D-6E8A-4147-A177-3AD203B41FA5}">
                      <a16:colId xmlns:a16="http://schemas.microsoft.com/office/drawing/2014/main" val="1293713201"/>
                    </a:ext>
                  </a:extLst>
                </a:gridCol>
                <a:gridCol w="2430769">
                  <a:extLst>
                    <a:ext uri="{9D8B030D-6E8A-4147-A177-3AD203B41FA5}">
                      <a16:colId xmlns:a16="http://schemas.microsoft.com/office/drawing/2014/main" val="2862066949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39020313"/>
                    </a:ext>
                  </a:extLst>
                </a:gridCol>
                <a:gridCol w="2543039">
                  <a:extLst>
                    <a:ext uri="{9D8B030D-6E8A-4147-A177-3AD203B41FA5}">
                      <a16:colId xmlns:a16="http://schemas.microsoft.com/office/drawing/2014/main" val="469822951"/>
                    </a:ext>
                  </a:extLst>
                </a:gridCol>
                <a:gridCol w="2136244">
                  <a:extLst>
                    <a:ext uri="{9D8B030D-6E8A-4147-A177-3AD203B41FA5}">
                      <a16:colId xmlns:a16="http://schemas.microsoft.com/office/drawing/2014/main" val="1115857612"/>
                    </a:ext>
                  </a:extLst>
                </a:gridCol>
                <a:gridCol w="1046374">
                  <a:extLst>
                    <a:ext uri="{9D8B030D-6E8A-4147-A177-3AD203B41FA5}">
                      <a16:colId xmlns:a16="http://schemas.microsoft.com/office/drawing/2014/main" val="3946753224"/>
                    </a:ext>
                  </a:extLst>
                </a:gridCol>
                <a:gridCol w="1241198">
                  <a:extLst>
                    <a:ext uri="{9D8B030D-6E8A-4147-A177-3AD203B41FA5}">
                      <a16:colId xmlns:a16="http://schemas.microsoft.com/office/drawing/2014/main" val="2634543621"/>
                    </a:ext>
                  </a:extLst>
                </a:gridCol>
              </a:tblGrid>
              <a:tr h="1155031">
                <a:tc>
                  <a:txBody>
                    <a:bodyPr/>
                    <a:lstStyle/>
                    <a:p>
                      <a:r>
                        <a:rPr lang="en-US" dirty="0" smtClean="0"/>
                        <a:t>S.NO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PRODUCT</a:t>
                      </a:r>
                      <a:r>
                        <a:rPr lang="en-US" baseline="0" dirty="0" smtClean="0"/>
                        <a:t> DETAIL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PRODUCT</a:t>
                      </a:r>
                      <a:r>
                        <a:rPr lang="en-US" baseline="0" dirty="0" smtClean="0"/>
                        <a:t> CODE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IMAGE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SPECIFICATION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MRP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OFFER PRICE</a:t>
                      </a:r>
                      <a:r>
                        <a:rPr lang="en-US" baseline="0" dirty="0" smtClean="0"/>
                        <a:t> Basic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7523008"/>
                  </a:ext>
                </a:extLst>
              </a:tr>
              <a:tr h="3778475"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Electric Mini Chopper, Stainless Steel Blade, Vegetable, Nuts Chopper, 0.4 Litres Bowl, 200W</a:t>
                      </a:r>
                    </a:p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White (4041MC)</a:t>
                      </a:r>
                    </a:p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400 ml bowl for chopping small quantities</a:t>
                      </a:r>
                    </a:p>
                    <a:p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Push button switch for easy operation</a:t>
                      </a:r>
                    </a:p>
                    <a:p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High quality rust resistant stainless steel blades for impeccable chopping</a:t>
                      </a:r>
                    </a:p>
                    <a:p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Anti-skid base for a stable chopping experience</a:t>
                      </a:r>
                    </a:p>
                    <a:p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Certified by Bureau of Indian Standards</a:t>
                      </a:r>
                    </a:p>
                    <a:p>
                      <a:endParaRPr lang="en-IN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2295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890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2340262"/>
                  </a:ext>
                </a:extLst>
              </a:tr>
              <a:tr h="3051097"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Electric Vegetable Chopper, Whisking Disc Chops Nuts 0.4 </a:t>
                      </a:r>
                      <a:r>
                        <a:rPr lang="en-US" sz="1800" b="1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Litres</a:t>
                      </a:r>
                      <a:r>
                        <a:rPr lang="en-US" sz="1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Bowl, 250W</a:t>
                      </a:r>
                    </a:p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White (4043)</a:t>
                      </a:r>
                    </a:p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400 ml bowl for chopping small quantities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Push button switch and a whisking disk for easy blending 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High quality rust resistant stainless steel blades for impeccable chopping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Anti-skid base for a stable chopping experience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- 2 year warranty</a:t>
                      </a:r>
                    </a:p>
                    <a:p>
                      <a:pPr marL="0" algn="l" defTabSz="914400" rtl="0" eaLnBrk="1" latinLnBrk="0" hangingPunct="1"/>
                      <a:endParaRPr lang="en-IN" sz="16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2395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935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4604719"/>
                  </a:ext>
                </a:extLst>
              </a:tr>
            </a:tbl>
          </a:graphicData>
        </a:graphic>
      </p:graphicFrame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4737" y="1643783"/>
            <a:ext cx="2349042" cy="234904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2127" y="6000750"/>
            <a:ext cx="17145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426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286876"/>
              </p:ext>
            </p:extLst>
          </p:nvPr>
        </p:nvGraphicFramePr>
        <p:xfrm>
          <a:off x="1" y="1"/>
          <a:ext cx="12191998" cy="8011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2660">
                  <a:extLst>
                    <a:ext uri="{9D8B030D-6E8A-4147-A177-3AD203B41FA5}">
                      <a16:colId xmlns:a16="http://schemas.microsoft.com/office/drawing/2014/main" val="1293713201"/>
                    </a:ext>
                  </a:extLst>
                </a:gridCol>
                <a:gridCol w="2430769">
                  <a:extLst>
                    <a:ext uri="{9D8B030D-6E8A-4147-A177-3AD203B41FA5}">
                      <a16:colId xmlns:a16="http://schemas.microsoft.com/office/drawing/2014/main" val="2862066949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39020313"/>
                    </a:ext>
                  </a:extLst>
                </a:gridCol>
                <a:gridCol w="2543039">
                  <a:extLst>
                    <a:ext uri="{9D8B030D-6E8A-4147-A177-3AD203B41FA5}">
                      <a16:colId xmlns:a16="http://schemas.microsoft.com/office/drawing/2014/main" val="469822951"/>
                    </a:ext>
                  </a:extLst>
                </a:gridCol>
                <a:gridCol w="2136244">
                  <a:extLst>
                    <a:ext uri="{9D8B030D-6E8A-4147-A177-3AD203B41FA5}">
                      <a16:colId xmlns:a16="http://schemas.microsoft.com/office/drawing/2014/main" val="1115857612"/>
                    </a:ext>
                  </a:extLst>
                </a:gridCol>
                <a:gridCol w="1046374">
                  <a:extLst>
                    <a:ext uri="{9D8B030D-6E8A-4147-A177-3AD203B41FA5}">
                      <a16:colId xmlns:a16="http://schemas.microsoft.com/office/drawing/2014/main" val="3946753224"/>
                    </a:ext>
                  </a:extLst>
                </a:gridCol>
                <a:gridCol w="1241198">
                  <a:extLst>
                    <a:ext uri="{9D8B030D-6E8A-4147-A177-3AD203B41FA5}">
                      <a16:colId xmlns:a16="http://schemas.microsoft.com/office/drawing/2014/main" val="2634543621"/>
                    </a:ext>
                  </a:extLst>
                </a:gridCol>
              </a:tblGrid>
              <a:tr h="1155031">
                <a:tc>
                  <a:txBody>
                    <a:bodyPr/>
                    <a:lstStyle/>
                    <a:p>
                      <a:r>
                        <a:rPr lang="en-US" dirty="0" smtClean="0"/>
                        <a:t>S.NO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PRODUCT</a:t>
                      </a:r>
                      <a:r>
                        <a:rPr lang="en-US" baseline="0" dirty="0" smtClean="0"/>
                        <a:t> DETAIL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PRODUCT</a:t>
                      </a:r>
                      <a:r>
                        <a:rPr lang="en-US" baseline="0" dirty="0" smtClean="0"/>
                        <a:t> CODE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IMAGE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SPECIFICATION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MRP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OFFER PRICE</a:t>
                      </a:r>
                      <a:r>
                        <a:rPr lang="en-US" baseline="0" dirty="0" smtClean="0"/>
                        <a:t> Basic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7523008"/>
                  </a:ext>
                </a:extLst>
              </a:tr>
              <a:tr h="3778475"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Electric Hand Blender with Stainless Steel Arm 200W</a:t>
                      </a:r>
                    </a:p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White (4049)</a:t>
                      </a:r>
                    </a:p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handheld blender that’s easy to use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One push button switch that’s conveniently placed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High quality detachable stainless steel blades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Low noise design for a comfortable blending experience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ISI certified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- 2 year warranty</a:t>
                      </a:r>
                      <a:endParaRPr lang="en-IN" sz="16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2295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890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2340262"/>
                  </a:ext>
                </a:extLst>
              </a:tr>
              <a:tr h="3051097"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Electric Kettle 1.8 </a:t>
                      </a:r>
                      <a:r>
                        <a:rPr lang="en-US" sz="1800" b="1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Litre</a:t>
                      </a:r>
                      <a:r>
                        <a:rPr lang="en-US" sz="1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Plastic Clad Stainless Steel, 360° Rotation Base, Auto Shutoff, 1500 W</a:t>
                      </a:r>
                    </a:p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White (9005)</a:t>
                      </a:r>
                    </a:p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Capacity 1.8L</a:t>
                      </a:r>
                    </a:p>
                    <a:p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Auto shut OFF</a:t>
                      </a:r>
                    </a:p>
                    <a:p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Concealed heating element</a:t>
                      </a:r>
                    </a:p>
                    <a:p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Convenient 360° rotational base</a:t>
                      </a:r>
                    </a:p>
                    <a:p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Well positioned &amp; shaped handle, easy &amp; cool to hold</a:t>
                      </a:r>
                    </a:p>
                    <a:p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Power 1500W</a:t>
                      </a:r>
                    </a:p>
                    <a:p>
                      <a:pPr marL="0" algn="l" defTabSz="914400" rtl="0" eaLnBrk="1" latinLnBrk="0" hangingPunct="1"/>
                      <a:endParaRPr lang="en-IN" sz="16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2295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960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4604719"/>
                  </a:ext>
                </a:extLst>
              </a:tr>
            </a:tbl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0407" y="1629070"/>
            <a:ext cx="1714500" cy="17145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0407" y="5258389"/>
            <a:ext cx="17145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321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1476479"/>
              </p:ext>
            </p:extLst>
          </p:nvPr>
        </p:nvGraphicFramePr>
        <p:xfrm>
          <a:off x="1" y="1"/>
          <a:ext cx="12191998" cy="85256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2660">
                  <a:extLst>
                    <a:ext uri="{9D8B030D-6E8A-4147-A177-3AD203B41FA5}">
                      <a16:colId xmlns:a16="http://schemas.microsoft.com/office/drawing/2014/main" val="1293713201"/>
                    </a:ext>
                  </a:extLst>
                </a:gridCol>
                <a:gridCol w="2430769">
                  <a:extLst>
                    <a:ext uri="{9D8B030D-6E8A-4147-A177-3AD203B41FA5}">
                      <a16:colId xmlns:a16="http://schemas.microsoft.com/office/drawing/2014/main" val="2862066949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39020313"/>
                    </a:ext>
                  </a:extLst>
                </a:gridCol>
                <a:gridCol w="2543039">
                  <a:extLst>
                    <a:ext uri="{9D8B030D-6E8A-4147-A177-3AD203B41FA5}">
                      <a16:colId xmlns:a16="http://schemas.microsoft.com/office/drawing/2014/main" val="469822951"/>
                    </a:ext>
                  </a:extLst>
                </a:gridCol>
                <a:gridCol w="2136244">
                  <a:extLst>
                    <a:ext uri="{9D8B030D-6E8A-4147-A177-3AD203B41FA5}">
                      <a16:colId xmlns:a16="http://schemas.microsoft.com/office/drawing/2014/main" val="1115857612"/>
                    </a:ext>
                  </a:extLst>
                </a:gridCol>
                <a:gridCol w="1077800">
                  <a:extLst>
                    <a:ext uri="{9D8B030D-6E8A-4147-A177-3AD203B41FA5}">
                      <a16:colId xmlns:a16="http://schemas.microsoft.com/office/drawing/2014/main" val="3946753224"/>
                    </a:ext>
                  </a:extLst>
                </a:gridCol>
                <a:gridCol w="1209772">
                  <a:extLst>
                    <a:ext uri="{9D8B030D-6E8A-4147-A177-3AD203B41FA5}">
                      <a16:colId xmlns:a16="http://schemas.microsoft.com/office/drawing/2014/main" val="2634543621"/>
                    </a:ext>
                  </a:extLst>
                </a:gridCol>
              </a:tblGrid>
              <a:tr h="1027521">
                <a:tc>
                  <a:txBody>
                    <a:bodyPr/>
                    <a:lstStyle/>
                    <a:p>
                      <a:r>
                        <a:rPr lang="en-US" dirty="0" smtClean="0"/>
                        <a:t>S.NO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PRODUCT</a:t>
                      </a:r>
                      <a:r>
                        <a:rPr lang="en-US" baseline="0" dirty="0" smtClean="0"/>
                        <a:t> DETAIL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PRODUCT</a:t>
                      </a:r>
                      <a:r>
                        <a:rPr lang="en-US" baseline="0" dirty="0" smtClean="0"/>
                        <a:t> CODE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IMAGE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SPECIFICATION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MRP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OFFER PRICE</a:t>
                      </a:r>
                      <a:r>
                        <a:rPr lang="en-US" baseline="0" dirty="0" smtClean="0"/>
                        <a:t> Basic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7523008"/>
                  </a:ext>
                </a:extLst>
              </a:tr>
              <a:tr h="2846894">
                <a:tc>
                  <a:txBody>
                    <a:bodyPr/>
                    <a:lstStyle/>
                    <a:p>
                      <a:r>
                        <a:rPr lang="en-US" dirty="0" smtClean="0"/>
                        <a:t>9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Press Grill with Non-stick Plates Oil Collector Tray 850W Power</a:t>
                      </a:r>
                    </a:p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3029GRILL</a:t>
                      </a:r>
                    </a:p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Contact Grill makes cooking faster and easier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Strong handle giving a stylish look and safety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Oil collector tray ensures less grease on the grill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- 850 W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Heavy duty non stick plates to keep the food healthy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- 2 years warranty</a:t>
                      </a:r>
                    </a:p>
                    <a:p>
                      <a:pPr marL="0" algn="l" defTabSz="914400" rtl="0" eaLnBrk="1" latinLnBrk="0" hangingPunct="1"/>
                      <a:endParaRPr lang="en-IN" sz="16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3195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1450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2340262"/>
                  </a:ext>
                </a:extLst>
              </a:tr>
              <a:tr h="3051097">
                <a:tc>
                  <a:txBody>
                    <a:bodyPr/>
                    <a:lstStyle/>
                    <a:p>
                      <a:r>
                        <a:rPr lang="en-US" dirty="0" smtClean="0"/>
                        <a:t>10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Electric Auto Pop-up 2 Slice Toaster, 750W, 6 Level Browning Control, Removable Crumb Tray </a:t>
                      </a:r>
                    </a:p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White (3019)</a:t>
                      </a:r>
                    </a:p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 Slice toaster for different thickness of breads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- 6 Level browning control delivers toasted bread in less time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Slide out crumb tray can be conveniently removed and cleaned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Extra lift carriage control for convenient removal of slices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Defrost, Reheat &amp; Cancel buttons for added advantage</a:t>
                      </a:r>
                    </a:p>
                    <a:p>
                      <a:pPr marL="0" algn="l" defTabSz="914400" rtl="0" eaLnBrk="1" latinLnBrk="0" hangingPunct="1"/>
                      <a:endParaRPr lang="en-IN" sz="16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2895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1290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4604719"/>
                  </a:ext>
                </a:extLst>
              </a:tr>
            </a:tbl>
          </a:graphicData>
        </a:graphic>
      </p:graphicFrame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8115" y="1666777"/>
            <a:ext cx="1714500" cy="17145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2383" y="5220682"/>
            <a:ext cx="17145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2358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5792565"/>
              </p:ext>
            </p:extLst>
          </p:nvPr>
        </p:nvGraphicFramePr>
        <p:xfrm>
          <a:off x="1" y="1"/>
          <a:ext cx="12191998" cy="106038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2660">
                  <a:extLst>
                    <a:ext uri="{9D8B030D-6E8A-4147-A177-3AD203B41FA5}">
                      <a16:colId xmlns:a16="http://schemas.microsoft.com/office/drawing/2014/main" val="1293713201"/>
                    </a:ext>
                  </a:extLst>
                </a:gridCol>
                <a:gridCol w="2430769">
                  <a:extLst>
                    <a:ext uri="{9D8B030D-6E8A-4147-A177-3AD203B41FA5}">
                      <a16:colId xmlns:a16="http://schemas.microsoft.com/office/drawing/2014/main" val="2862066949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39020313"/>
                    </a:ext>
                  </a:extLst>
                </a:gridCol>
                <a:gridCol w="2543039">
                  <a:extLst>
                    <a:ext uri="{9D8B030D-6E8A-4147-A177-3AD203B41FA5}">
                      <a16:colId xmlns:a16="http://schemas.microsoft.com/office/drawing/2014/main" val="469822951"/>
                    </a:ext>
                  </a:extLst>
                </a:gridCol>
                <a:gridCol w="2136244">
                  <a:extLst>
                    <a:ext uri="{9D8B030D-6E8A-4147-A177-3AD203B41FA5}">
                      <a16:colId xmlns:a16="http://schemas.microsoft.com/office/drawing/2014/main" val="1115857612"/>
                    </a:ext>
                  </a:extLst>
                </a:gridCol>
                <a:gridCol w="1077800">
                  <a:extLst>
                    <a:ext uri="{9D8B030D-6E8A-4147-A177-3AD203B41FA5}">
                      <a16:colId xmlns:a16="http://schemas.microsoft.com/office/drawing/2014/main" val="3946753224"/>
                    </a:ext>
                  </a:extLst>
                </a:gridCol>
                <a:gridCol w="1209772">
                  <a:extLst>
                    <a:ext uri="{9D8B030D-6E8A-4147-A177-3AD203B41FA5}">
                      <a16:colId xmlns:a16="http://schemas.microsoft.com/office/drawing/2014/main" val="2634543621"/>
                    </a:ext>
                  </a:extLst>
                </a:gridCol>
              </a:tblGrid>
              <a:tr h="1155031">
                <a:tc>
                  <a:txBody>
                    <a:bodyPr/>
                    <a:lstStyle/>
                    <a:p>
                      <a:r>
                        <a:rPr lang="en-US" dirty="0" smtClean="0"/>
                        <a:t>S.NO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PRODUCT</a:t>
                      </a:r>
                      <a:r>
                        <a:rPr lang="en-US" baseline="0" dirty="0" smtClean="0"/>
                        <a:t> DETAIL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PRODUCT</a:t>
                      </a:r>
                      <a:r>
                        <a:rPr lang="en-US" baseline="0" dirty="0" smtClean="0"/>
                        <a:t> CODE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IMAGE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SPECIFICATION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MRP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OFFER PRICE</a:t>
                      </a:r>
                      <a:r>
                        <a:rPr lang="en-US" baseline="0" dirty="0" smtClean="0"/>
                        <a:t> Basic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7523008"/>
                  </a:ext>
                </a:extLst>
              </a:tr>
              <a:tr h="3778475">
                <a:tc>
                  <a:txBody>
                    <a:bodyPr/>
                    <a:lstStyle/>
                    <a:p>
                      <a:r>
                        <a:rPr lang="en-US" dirty="0" smtClean="0"/>
                        <a:t>11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Electric Sandwich Maker Grill with Non-Stick Coating Plates, 750W</a:t>
                      </a:r>
                    </a:p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Black (3024BGRILL)</a:t>
                      </a:r>
                    </a:p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Comes with grill plates to make healthy food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 Fresh &amp; Tasty Home-made Grill Sandwiches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With non-stick coating on plates cleaning becomes easy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Thermostat control ensures even cooking 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Has cool-touch handle and light indicators for better efficiency</a:t>
                      </a:r>
                      <a:br>
                        <a:rPr 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Vertical staking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Consumes 750 W power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- 2 years warranty</a:t>
                      </a:r>
                    </a:p>
                    <a:p>
                      <a:pPr marL="0" algn="l" defTabSz="914400" rtl="0" eaLnBrk="1" latinLnBrk="0" hangingPunct="1"/>
                      <a:endParaRPr lang="en-IN" sz="16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2095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940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2340262"/>
                  </a:ext>
                </a:extLst>
              </a:tr>
              <a:tr h="3051097">
                <a:tc>
                  <a:txBody>
                    <a:bodyPr/>
                    <a:lstStyle/>
                    <a:p>
                      <a:r>
                        <a:rPr lang="en-US" dirty="0" smtClean="0"/>
                        <a:t>12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Active-Blender, 350W, 20000 RPM Mixer, Grinder, Blender, 2 Unbreakable Food Grade Jars</a:t>
                      </a:r>
                    </a:p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4048 N</a:t>
                      </a:r>
                    </a:p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350W motor at 20,000 RPM for blending and grinding in seconds</a:t>
                      </a:r>
                      <a:br>
                        <a:rPr lang="en-US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- 2 unbreakable food-grade jars, a 500 ml blending jar, and a 300 ml grinding jar</a:t>
                      </a:r>
                      <a:br>
                        <a:rPr lang="en-US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- 2 interchangeable blades in rust-resistant stainless steel for wet and dry use</a:t>
                      </a:r>
                      <a:br>
                        <a:rPr lang="en-US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 Push button pulse operation with a 1-minute maximum run time per cycle</a:t>
                      </a:r>
                      <a:br>
                        <a:rPr lang="en-US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 Lid and seasoning cap for storing blends and using ground spices straight from the jar</a:t>
                      </a:r>
                      <a:br>
                        <a:rPr lang="en-US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 ISI Certified for tested safety and quality</a:t>
                      </a:r>
                      <a:br>
                        <a:rPr lang="en-US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 Warranty: 2 years. We trust our products; you can too.</a:t>
                      </a:r>
                      <a:endParaRPr lang="en-IN" sz="14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4195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1450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4604719"/>
                  </a:ext>
                </a:extLst>
              </a:tr>
            </a:tbl>
          </a:graphicData>
        </a:graphic>
      </p:graphicFrame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8115" y="1732765"/>
            <a:ext cx="1714500" cy="17145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2700" y="5789596"/>
            <a:ext cx="17145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8492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21725"/>
              </p:ext>
            </p:extLst>
          </p:nvPr>
        </p:nvGraphicFramePr>
        <p:xfrm>
          <a:off x="1" y="1"/>
          <a:ext cx="12191998" cy="8886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2660">
                  <a:extLst>
                    <a:ext uri="{9D8B030D-6E8A-4147-A177-3AD203B41FA5}">
                      <a16:colId xmlns:a16="http://schemas.microsoft.com/office/drawing/2014/main" val="1293713201"/>
                    </a:ext>
                  </a:extLst>
                </a:gridCol>
                <a:gridCol w="2430769">
                  <a:extLst>
                    <a:ext uri="{9D8B030D-6E8A-4147-A177-3AD203B41FA5}">
                      <a16:colId xmlns:a16="http://schemas.microsoft.com/office/drawing/2014/main" val="2862066949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39020313"/>
                    </a:ext>
                  </a:extLst>
                </a:gridCol>
                <a:gridCol w="2543039">
                  <a:extLst>
                    <a:ext uri="{9D8B030D-6E8A-4147-A177-3AD203B41FA5}">
                      <a16:colId xmlns:a16="http://schemas.microsoft.com/office/drawing/2014/main" val="469822951"/>
                    </a:ext>
                  </a:extLst>
                </a:gridCol>
                <a:gridCol w="2136244">
                  <a:extLst>
                    <a:ext uri="{9D8B030D-6E8A-4147-A177-3AD203B41FA5}">
                      <a16:colId xmlns:a16="http://schemas.microsoft.com/office/drawing/2014/main" val="1115857612"/>
                    </a:ext>
                  </a:extLst>
                </a:gridCol>
                <a:gridCol w="1077800">
                  <a:extLst>
                    <a:ext uri="{9D8B030D-6E8A-4147-A177-3AD203B41FA5}">
                      <a16:colId xmlns:a16="http://schemas.microsoft.com/office/drawing/2014/main" val="3946753224"/>
                    </a:ext>
                  </a:extLst>
                </a:gridCol>
                <a:gridCol w="1209772">
                  <a:extLst>
                    <a:ext uri="{9D8B030D-6E8A-4147-A177-3AD203B41FA5}">
                      <a16:colId xmlns:a16="http://schemas.microsoft.com/office/drawing/2014/main" val="2634543621"/>
                    </a:ext>
                  </a:extLst>
                </a:gridCol>
              </a:tblGrid>
              <a:tr h="1263191">
                <a:tc>
                  <a:txBody>
                    <a:bodyPr/>
                    <a:lstStyle/>
                    <a:p>
                      <a:r>
                        <a:rPr lang="en-US" dirty="0" smtClean="0"/>
                        <a:t>S.NO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PRODUCT</a:t>
                      </a:r>
                      <a:r>
                        <a:rPr lang="en-US" baseline="0" dirty="0" smtClean="0"/>
                        <a:t> DETAIL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PRODUCT</a:t>
                      </a:r>
                      <a:r>
                        <a:rPr lang="en-US" baseline="0" dirty="0" smtClean="0"/>
                        <a:t> CODE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IMAGE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SPECIFICATION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MRP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OFFER PRICE</a:t>
                      </a:r>
                      <a:r>
                        <a:rPr lang="en-US" baseline="0" dirty="0" smtClean="0"/>
                        <a:t> Basic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7523008"/>
                  </a:ext>
                </a:extLst>
              </a:tr>
              <a:tr h="3874416">
                <a:tc>
                  <a:txBody>
                    <a:bodyPr/>
                    <a:lstStyle/>
                    <a:p>
                      <a:r>
                        <a:rPr lang="en-US" dirty="0" smtClean="0"/>
                        <a:t>13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Electric Personal Blender 200W 0.6 </a:t>
                      </a:r>
                      <a:r>
                        <a:rPr lang="en-US" sz="1800" b="1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Litres</a:t>
                      </a:r>
                      <a:r>
                        <a:rPr lang="en-US" sz="1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BPA free Bottle with carry handle</a:t>
                      </a:r>
                    </a:p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Black (4047 BL)</a:t>
                      </a:r>
                    </a:p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600ml all-in-one blend, carry and sip bottle.</a:t>
                      </a:r>
                    </a:p>
                    <a:p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One push button switch that’s easy to use</a:t>
                      </a:r>
                    </a:p>
                    <a:p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High quality rust resistant stainless steel blades for impeccable blending</a:t>
                      </a:r>
                    </a:p>
                    <a:p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ISI certified</a:t>
                      </a:r>
                    </a:p>
                    <a:p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- 2 year warranty</a:t>
                      </a:r>
                    </a:p>
                    <a:p>
                      <a:pPr marL="0" algn="l" defTabSz="914400" rtl="0" eaLnBrk="1" latinLnBrk="0" hangingPunct="1"/>
                      <a:endParaRPr lang="en-IN" sz="16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3295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1210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2340262"/>
                  </a:ext>
                </a:extLst>
              </a:tr>
              <a:tr h="3051097">
                <a:tc>
                  <a:txBody>
                    <a:bodyPr/>
                    <a:lstStyle/>
                    <a:p>
                      <a:r>
                        <a:rPr lang="en-US" dirty="0" smtClean="0"/>
                        <a:t>14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Electric Mini Grinder, 50gm SS Jar for Dry and Wet Grinding 350W</a:t>
                      </a:r>
                    </a:p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White (4045 NG)</a:t>
                      </a:r>
                    </a:p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 50g grinder, perfect for grinding your coffee everyday</a:t>
                      </a:r>
                    </a:p>
                    <a:p>
                      <a:pPr marL="0" algn="l" defTabSz="914400" rtl="0" eaLnBrk="1" latinLnBrk="0" hangingPunct="1"/>
                      <a:endParaRPr lang="en-US" sz="1600" b="0" i="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Push button switch that’s easy to use</a:t>
                      </a:r>
                    </a:p>
                    <a:p>
                      <a:pPr marL="0" algn="l" defTabSz="914400" rtl="0" eaLnBrk="1" latinLnBrk="0" hangingPunct="1"/>
                      <a:endParaRPr lang="en-US" sz="1600" b="0" i="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High quality rust resistant stainless steel blades </a:t>
                      </a:r>
                    </a:p>
                    <a:p>
                      <a:pPr marL="0" algn="l" defTabSz="914400" rtl="0" eaLnBrk="1" latinLnBrk="0" hangingPunct="1"/>
                      <a:endParaRPr lang="en-US" sz="1600" b="0" i="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ISI certified</a:t>
                      </a:r>
                    </a:p>
                    <a:p>
                      <a:pPr marL="0" algn="l" defTabSz="914400" rtl="0" eaLnBrk="1" latinLnBrk="0" hangingPunct="1"/>
                      <a:endParaRPr lang="en-US" sz="1600" b="0" i="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- 2 year warranty</a:t>
                      </a:r>
                    </a:p>
                    <a:p>
                      <a:pPr marL="0" algn="l" defTabSz="914400" rtl="0" eaLnBrk="1" latinLnBrk="0" hangingPunct="1"/>
                      <a:endParaRPr lang="en-US" sz="1600" b="0" i="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3095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1199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4604719"/>
                  </a:ext>
                </a:extLst>
              </a:tr>
            </a:tbl>
          </a:graphicData>
        </a:graphic>
      </p:graphicFrame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2128" y="1836459"/>
            <a:ext cx="1714500" cy="17145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2128" y="5748583"/>
            <a:ext cx="17145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6332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8517211"/>
              </p:ext>
            </p:extLst>
          </p:nvPr>
        </p:nvGraphicFramePr>
        <p:xfrm>
          <a:off x="1" y="1"/>
          <a:ext cx="12191998" cy="102243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2660">
                  <a:extLst>
                    <a:ext uri="{9D8B030D-6E8A-4147-A177-3AD203B41FA5}">
                      <a16:colId xmlns:a16="http://schemas.microsoft.com/office/drawing/2014/main" val="1293713201"/>
                    </a:ext>
                  </a:extLst>
                </a:gridCol>
                <a:gridCol w="2430769">
                  <a:extLst>
                    <a:ext uri="{9D8B030D-6E8A-4147-A177-3AD203B41FA5}">
                      <a16:colId xmlns:a16="http://schemas.microsoft.com/office/drawing/2014/main" val="2862066949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39020313"/>
                    </a:ext>
                  </a:extLst>
                </a:gridCol>
                <a:gridCol w="2543039">
                  <a:extLst>
                    <a:ext uri="{9D8B030D-6E8A-4147-A177-3AD203B41FA5}">
                      <a16:colId xmlns:a16="http://schemas.microsoft.com/office/drawing/2014/main" val="469822951"/>
                    </a:ext>
                  </a:extLst>
                </a:gridCol>
                <a:gridCol w="2136244">
                  <a:extLst>
                    <a:ext uri="{9D8B030D-6E8A-4147-A177-3AD203B41FA5}">
                      <a16:colId xmlns:a16="http://schemas.microsoft.com/office/drawing/2014/main" val="1115857612"/>
                    </a:ext>
                  </a:extLst>
                </a:gridCol>
                <a:gridCol w="1077800">
                  <a:extLst>
                    <a:ext uri="{9D8B030D-6E8A-4147-A177-3AD203B41FA5}">
                      <a16:colId xmlns:a16="http://schemas.microsoft.com/office/drawing/2014/main" val="3946753224"/>
                    </a:ext>
                  </a:extLst>
                </a:gridCol>
                <a:gridCol w="1209772">
                  <a:extLst>
                    <a:ext uri="{9D8B030D-6E8A-4147-A177-3AD203B41FA5}">
                      <a16:colId xmlns:a16="http://schemas.microsoft.com/office/drawing/2014/main" val="2634543621"/>
                    </a:ext>
                  </a:extLst>
                </a:gridCol>
              </a:tblGrid>
              <a:tr h="1263191">
                <a:tc>
                  <a:txBody>
                    <a:bodyPr/>
                    <a:lstStyle/>
                    <a:p>
                      <a:r>
                        <a:rPr lang="en-US" dirty="0" smtClean="0"/>
                        <a:t>S.NO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PRODUCT</a:t>
                      </a:r>
                      <a:r>
                        <a:rPr lang="en-US" baseline="0" dirty="0" smtClean="0"/>
                        <a:t> DETAIL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PRODUCT</a:t>
                      </a:r>
                      <a:r>
                        <a:rPr lang="en-US" baseline="0" dirty="0" smtClean="0"/>
                        <a:t> CODE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IMAGE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SPECIFICATION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MRP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OFFER PRICE</a:t>
                      </a:r>
                      <a:r>
                        <a:rPr lang="en-US" baseline="0" dirty="0" smtClean="0"/>
                        <a:t> Basic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7523008"/>
                  </a:ext>
                </a:extLst>
              </a:tr>
              <a:tr h="3874416">
                <a:tc>
                  <a:txBody>
                    <a:bodyPr/>
                    <a:lstStyle/>
                    <a:p>
                      <a:r>
                        <a:rPr lang="en-US" dirty="0" smtClean="0"/>
                        <a:t>15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3-in-1 Juicer Mixer Grinder with 2 Jars 500 watt Power</a:t>
                      </a:r>
                    </a:p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SA4012JAR2</a:t>
                      </a:r>
                      <a:endParaRPr lang="en-IN" sz="1800" b="1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- 2 jars of varying capacities to perform all the pre-cooking functions effortlessly</a:t>
                      </a:r>
                    </a:p>
                    <a:p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Rust resistant stainless steel blades to ensure a longer lifespan</a:t>
                      </a:r>
                    </a:p>
                    <a:p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Overload Protector Mechanism for your safety</a:t>
                      </a:r>
                    </a:p>
                    <a:p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- 2 speed settings with pulse function</a:t>
                      </a:r>
                    </a:p>
                    <a:p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Comes with a 2 year standard warranty</a:t>
                      </a:r>
                    </a:p>
                    <a:p>
                      <a:pPr marL="0" algn="l" defTabSz="914400" rtl="0" eaLnBrk="1" latinLnBrk="0" hangingPunct="1"/>
                      <a:endParaRPr lang="en-IN" sz="16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4595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1970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2340262"/>
                  </a:ext>
                </a:extLst>
              </a:tr>
              <a:tr h="3051097">
                <a:tc>
                  <a:txBody>
                    <a:bodyPr/>
                    <a:lstStyle/>
                    <a:p>
                      <a:r>
                        <a:rPr lang="en-US" dirty="0" smtClean="0"/>
                        <a:t>16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Mixer Grinder 550W with 3 Stainless Steel </a:t>
                      </a:r>
                      <a:r>
                        <a:rPr lang="en-US" sz="1800" b="1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Liquidiser</a:t>
                      </a:r>
                      <a:r>
                        <a:rPr lang="en-US" sz="1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Grinder and Chutney Jars</a:t>
                      </a:r>
                    </a:p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Black (4021)</a:t>
                      </a:r>
                    </a:p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- 3 stainless steel jars of varying capacities to meet all your grinding needs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Low noise design for your convenience 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Rust resistant stainless steel blades to ensure a longer lifespan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- 550W Powerful motor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Overload Protector Mechanism for your safety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ISI certified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- 3 speed settings with pulse function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Comes with a 2 year standard warranty</a:t>
                      </a:r>
                    </a:p>
                    <a:p>
                      <a:pPr marL="0" algn="l" defTabSz="914400" rtl="0" eaLnBrk="1" latinLnBrk="0" hangingPunct="1"/>
                      <a:endParaRPr lang="en-IN" sz="16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4495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1720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4604719"/>
                  </a:ext>
                </a:extLst>
              </a:tr>
            </a:tbl>
          </a:graphicData>
        </a:graphic>
      </p:graphicFrame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2383" y="2138117"/>
            <a:ext cx="1714500" cy="17145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8371" y="5682596"/>
            <a:ext cx="17145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0136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6640835"/>
              </p:ext>
            </p:extLst>
          </p:nvPr>
        </p:nvGraphicFramePr>
        <p:xfrm>
          <a:off x="1" y="1"/>
          <a:ext cx="12191998" cy="10014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2660">
                  <a:extLst>
                    <a:ext uri="{9D8B030D-6E8A-4147-A177-3AD203B41FA5}">
                      <a16:colId xmlns:a16="http://schemas.microsoft.com/office/drawing/2014/main" val="1293713201"/>
                    </a:ext>
                  </a:extLst>
                </a:gridCol>
                <a:gridCol w="2430769">
                  <a:extLst>
                    <a:ext uri="{9D8B030D-6E8A-4147-A177-3AD203B41FA5}">
                      <a16:colId xmlns:a16="http://schemas.microsoft.com/office/drawing/2014/main" val="2862066949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39020313"/>
                    </a:ext>
                  </a:extLst>
                </a:gridCol>
                <a:gridCol w="2543039">
                  <a:extLst>
                    <a:ext uri="{9D8B030D-6E8A-4147-A177-3AD203B41FA5}">
                      <a16:colId xmlns:a16="http://schemas.microsoft.com/office/drawing/2014/main" val="469822951"/>
                    </a:ext>
                  </a:extLst>
                </a:gridCol>
                <a:gridCol w="2136244">
                  <a:extLst>
                    <a:ext uri="{9D8B030D-6E8A-4147-A177-3AD203B41FA5}">
                      <a16:colId xmlns:a16="http://schemas.microsoft.com/office/drawing/2014/main" val="1115857612"/>
                    </a:ext>
                  </a:extLst>
                </a:gridCol>
                <a:gridCol w="1077800">
                  <a:extLst>
                    <a:ext uri="{9D8B030D-6E8A-4147-A177-3AD203B41FA5}">
                      <a16:colId xmlns:a16="http://schemas.microsoft.com/office/drawing/2014/main" val="3946753224"/>
                    </a:ext>
                  </a:extLst>
                </a:gridCol>
                <a:gridCol w="1209772">
                  <a:extLst>
                    <a:ext uri="{9D8B030D-6E8A-4147-A177-3AD203B41FA5}">
                      <a16:colId xmlns:a16="http://schemas.microsoft.com/office/drawing/2014/main" val="2634543621"/>
                    </a:ext>
                  </a:extLst>
                </a:gridCol>
              </a:tblGrid>
              <a:tr h="1263191">
                <a:tc>
                  <a:txBody>
                    <a:bodyPr/>
                    <a:lstStyle/>
                    <a:p>
                      <a:r>
                        <a:rPr lang="en-US" dirty="0" smtClean="0"/>
                        <a:t>S.NO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PRODUCT</a:t>
                      </a:r>
                      <a:r>
                        <a:rPr lang="en-US" baseline="0" dirty="0" smtClean="0"/>
                        <a:t> DETAIL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PRODUCT</a:t>
                      </a:r>
                      <a:r>
                        <a:rPr lang="en-US" baseline="0" dirty="0" smtClean="0"/>
                        <a:t> CODE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IMAGE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SPECIFICATION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MRP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OFFER PRICE</a:t>
                      </a:r>
                      <a:r>
                        <a:rPr lang="en-US" baseline="0" dirty="0" smtClean="0"/>
                        <a:t> Basic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7523008"/>
                  </a:ext>
                </a:extLst>
              </a:tr>
              <a:tr h="3874416">
                <a:tc>
                  <a:txBody>
                    <a:bodyPr/>
                    <a:lstStyle/>
                    <a:p>
                      <a:r>
                        <a:rPr lang="en-US" dirty="0" smtClean="0"/>
                        <a:t>17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Infrared Cooking Stove with 4 Preset Cooking Functions 2200W</a:t>
                      </a:r>
                    </a:p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SA-3077IR</a:t>
                      </a:r>
                    </a:p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- 4.5 kV surge protection to safeguard the PCB from Voltage fluctuations</a:t>
                      </a:r>
                    </a:p>
                    <a:p>
                      <a:r>
                        <a:rPr lang="en-IN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Stainless Steel Frame</a:t>
                      </a:r>
                    </a:p>
                    <a:p>
                      <a:r>
                        <a:rPr lang="en-IN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Stainless Steel Grill Rack Included for Barbeque</a:t>
                      </a:r>
                    </a:p>
                    <a:p>
                      <a:r>
                        <a:rPr lang="en-IN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Crystal Glass Plate (360x280 mm)</a:t>
                      </a:r>
                    </a:p>
                    <a:p>
                      <a:r>
                        <a:rPr lang="en-IN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Digital display</a:t>
                      </a:r>
                    </a:p>
                    <a:p>
                      <a:r>
                        <a:rPr lang="en-IN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- 4 Pre-Set Functions</a:t>
                      </a:r>
                    </a:p>
                    <a:p>
                      <a:r>
                        <a:rPr lang="en-IN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Extra Wide Cooking Surface</a:t>
                      </a:r>
                    </a:p>
                    <a:p>
                      <a:r>
                        <a:rPr lang="en-IN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Touch Sensor Control</a:t>
                      </a:r>
                    </a:p>
                    <a:p>
                      <a:r>
                        <a:rPr lang="en-IN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- 180 minutes timer</a:t>
                      </a:r>
                    </a:p>
                    <a:p>
                      <a:r>
                        <a:rPr lang="en-IN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Cool touch handle</a:t>
                      </a:r>
                    </a:p>
                    <a:p>
                      <a:r>
                        <a:rPr lang="en-IN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Power Range (100-2200 WATT)</a:t>
                      </a:r>
                    </a:p>
                    <a:p>
                      <a:r>
                        <a:rPr lang="en-IN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Suitable for all flat bottom pots and pans</a:t>
                      </a:r>
                    </a:p>
                    <a:p>
                      <a:r>
                        <a:rPr lang="en-IN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- 2200 W</a:t>
                      </a:r>
                    </a:p>
                    <a:p>
                      <a:pPr marL="0" algn="l" defTabSz="914400" rtl="0" eaLnBrk="1" latinLnBrk="0" hangingPunct="1"/>
                      <a:endParaRPr lang="en-IN" sz="16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5295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smtClean="0"/>
                        <a:t>2070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2340262"/>
                  </a:ext>
                </a:extLst>
              </a:tr>
              <a:tr h="3051097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IN" sz="16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4604719"/>
                  </a:ext>
                </a:extLst>
              </a:tr>
            </a:tbl>
          </a:graphicData>
        </a:graphic>
      </p:graphicFrame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7858" y="2156970"/>
            <a:ext cx="2028531" cy="2028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4927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958</Words>
  <Application>Microsoft Office PowerPoint</Application>
  <PresentationFormat>Widescreen</PresentationFormat>
  <Paragraphs>249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Nunito Sans</vt:lpstr>
      <vt:lpstr>Office Theme</vt:lpstr>
      <vt:lpstr>DIWALI 2025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DIWALI 2025</dc:title>
  <dc:creator>vinita</dc:creator>
  <cp:lastModifiedBy>gaurav kakkar</cp:lastModifiedBy>
  <cp:revision>14</cp:revision>
  <dcterms:created xsi:type="dcterms:W3CDTF">2025-09-05T07:13:05Z</dcterms:created>
  <dcterms:modified xsi:type="dcterms:W3CDTF">2026-07-13T10:45:53Z</dcterms:modified>
</cp:coreProperties>
</file>